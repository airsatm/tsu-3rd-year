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57" r:id="rId3"/>
    <p:sldId id="260" r:id="rId4"/>
    <p:sldId id="261" r:id="rId5"/>
    <p:sldId id="258" r:id="rId6"/>
    <p:sldId id="262" r:id="rId7"/>
    <p:sldId id="263" r:id="rId8"/>
    <p:sldId id="259" r:id="rId9"/>
    <p:sldId id="264" r:id="rId10"/>
    <p:sldId id="266" r:id="rId11"/>
    <p:sldId id="267" r:id="rId12"/>
    <p:sldId id="269" r:id="rId13"/>
    <p:sldId id="270" r:id="rId14"/>
    <p:sldId id="271" r:id="rId15"/>
    <p:sldId id="272" r:id="rId16"/>
    <p:sldId id="273" r:id="rId17"/>
    <p:sldId id="274" r:id="rId18"/>
    <p:sldId id="265" r:id="rId1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 autoAdjust="0"/>
  </p:normalViewPr>
  <p:slideViewPr>
    <p:cSldViewPr snapToGrid="0">
      <p:cViewPr>
        <p:scale>
          <a:sx n="122" d="100"/>
          <a:sy n="122" d="100"/>
        </p:scale>
        <p:origin x="-72" y="-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DDD38784-792B-4A04-B4E7-C44ADE7158A5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vert="horz" lIns="45720" tIns="45720" rIns="45720" bIns="45720" rtlCol="0" anchor="ctr">
            <a:normAutofit/>
          </a:bodyPr>
          <a:lstStyle>
            <a:lvl1pPr>
              <a:defRPr lang="en-US"/>
            </a:lvl1pPr>
          </a:lstStyle>
          <a:p>
            <a:fld id="{F8DB1C4D-478C-4847-BB26-6ABCCDEA50E6}" type="slidenum">
              <a:rPr lang="ru-RU" smtClean="0"/>
              <a:t>‹#›</a:t>
            </a:fld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73100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38784-792B-4A04-B4E7-C44ADE7158A5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B1C4D-478C-4847-BB26-6ABCCDEA50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073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38784-792B-4A04-B4E7-C44ADE7158A5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B1C4D-478C-4847-BB26-6ABCCDEA50E6}" type="slidenum">
              <a:rPr lang="ru-RU" smtClean="0"/>
              <a:t>‹#›</a:t>
            </a:fld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93531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38784-792B-4A04-B4E7-C44ADE7158A5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B1C4D-478C-4847-BB26-6ABCCDEA50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2289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7879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126480" y="1717879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lang="en-US" sz="2000" b="0" kern="1200" spc="10" baseline="0" dirty="0">
                <a:solidFill>
                  <a:schemeClr val="tx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38784-792B-4A04-B4E7-C44ADE7158A5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B1C4D-478C-4847-BB26-6ABCCDEA50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3780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38784-792B-4A04-B4E7-C44ADE7158A5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B1C4D-478C-4847-BB26-6ABCCDEA50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8946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38784-792B-4A04-B4E7-C44ADE7158A5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B1C4D-478C-4847-BB26-6ABCCDEA50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9193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38784-792B-4A04-B4E7-C44ADE7158A5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B1C4D-478C-4847-BB26-6ABCCDEA50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9215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38784-792B-4A04-B4E7-C44ADE7158A5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B1C4D-478C-4847-BB26-6ABCCDEA50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0066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38784-792B-4A04-B4E7-C44ADE7158A5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B1C4D-478C-4847-BB26-6ABCCDEA50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7222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38784-792B-4A04-B4E7-C44ADE7158A5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B1C4D-478C-4847-BB26-6ABCCDEA50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5239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DDD38784-792B-4A04-B4E7-C44ADE7158A5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rgbClr val="969696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rgbClr val="777777"/>
                </a:solidFill>
              </a:defRPr>
            </a:lvl1pPr>
          </a:lstStyle>
          <a:p>
            <a:fld id="{F8DB1C4D-478C-4847-BB26-6ABCCDEA50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2432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3395953"/>
          </a:xfrm>
        </p:spPr>
        <p:txBody>
          <a:bodyPr>
            <a:normAutofit/>
          </a:bodyPr>
          <a:lstStyle/>
          <a:p>
            <a:pPr algn="ctr"/>
            <a:r>
              <a:rPr lang="ru-RU" sz="4800" dirty="0" smtClean="0"/>
              <a:t>Классификация вредоносного ПО на основе методов машинного обучения</a:t>
            </a:r>
            <a:endParaRPr lang="ru-RU" sz="48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261872" y="4636168"/>
            <a:ext cx="9418320" cy="1856072"/>
          </a:xfrm>
        </p:spPr>
        <p:txBody>
          <a:bodyPr/>
          <a:lstStyle/>
          <a:p>
            <a:r>
              <a:rPr lang="ru-RU" dirty="0" smtClean="0"/>
              <a:t>Студент: Сат Айрат Мергенович</a:t>
            </a:r>
          </a:p>
          <a:p>
            <a:r>
              <a:rPr lang="ru-RU" dirty="0" smtClean="0"/>
              <a:t>Научный руководитель: Вихорь Наталья Анатольевна</a:t>
            </a:r>
          </a:p>
          <a:p>
            <a:r>
              <a:rPr lang="ru-RU" dirty="0" smtClean="0"/>
              <a:t>Компьютерная Безопасность, 3 курс, 932323 гр.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611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61872" y="431532"/>
            <a:ext cx="9692640" cy="791785"/>
          </a:xfrm>
        </p:spPr>
        <p:txBody>
          <a:bodyPr/>
          <a:lstStyle/>
          <a:p>
            <a:r>
              <a:rPr lang="ru-RU" dirty="0" smtClean="0"/>
              <a:t>Актуальность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Современные киберугрозы эволюционируют с невероятной скоростью, и традиционные антивирусные решения на основе сигнатурного анализа становятся неэффективными против новых видов вредоносного программного </a:t>
            </a:r>
            <a:r>
              <a:rPr lang="ru-RU" sz="2400" dirty="0" smtClean="0"/>
              <a:t>обеспечения</a:t>
            </a:r>
            <a:endParaRPr lang="ru-RU" sz="24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91115" y="365760"/>
            <a:ext cx="74991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  <a:t>1</a:t>
            </a:r>
            <a:endParaRPr lang="ru-RU" sz="5400" b="0" cap="none" spc="0" dirty="0">
              <a:ln w="0"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1261872" y="1282887"/>
            <a:ext cx="842756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2026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61872" y="431532"/>
            <a:ext cx="9692640" cy="791785"/>
          </a:xfrm>
        </p:spPr>
        <p:txBody>
          <a:bodyPr/>
          <a:lstStyle/>
          <a:p>
            <a:r>
              <a:rPr lang="ru-RU" dirty="0" smtClean="0"/>
              <a:t>Актуальность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 smtClean="0"/>
              <a:t>Основная </a:t>
            </a:r>
            <a:r>
              <a:rPr lang="ru-RU" sz="2400" dirty="0"/>
              <a:t>проблема заключается в том, что </a:t>
            </a:r>
            <a:r>
              <a:rPr lang="ru-RU" sz="2400" b="1" dirty="0"/>
              <a:t>полиморфный и метаморфный код</a:t>
            </a:r>
            <a:r>
              <a:rPr lang="ru-RU" sz="2400" dirty="0"/>
              <a:t> легко обходит сигнатурные методы детектирования. Злоумышленники могут изменять внешний вид своих программ, сохраняя при этом вредоносное поведение, что делает традиционные базы сигнатур </a:t>
            </a:r>
            <a:r>
              <a:rPr lang="ru-RU" sz="2400" dirty="0" smtClean="0"/>
              <a:t>бесполезными</a:t>
            </a:r>
            <a:endParaRPr lang="ru-RU" sz="24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91115" y="365760"/>
            <a:ext cx="74991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dirty="0" smtClean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  <a:t>2</a:t>
            </a:r>
            <a:endParaRPr lang="ru-RU" sz="5400" b="0" cap="none" spc="0" dirty="0">
              <a:ln w="0"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1261872" y="1282887"/>
            <a:ext cx="842756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4502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61872" y="431532"/>
            <a:ext cx="9692640" cy="791785"/>
          </a:xfrm>
        </p:spPr>
        <p:txBody>
          <a:bodyPr/>
          <a:lstStyle/>
          <a:p>
            <a:r>
              <a:rPr lang="ru-RU" dirty="0" smtClean="0"/>
              <a:t>Актуальность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61872" y="1828800"/>
            <a:ext cx="8427560" cy="4351337"/>
          </a:xfrm>
        </p:spPr>
        <p:txBody>
          <a:bodyPr>
            <a:normAutofit/>
          </a:bodyPr>
          <a:lstStyle/>
          <a:p>
            <a:r>
              <a:rPr lang="ru-RU" sz="2400" dirty="0" smtClean="0"/>
              <a:t>Применение </a:t>
            </a:r>
            <a:r>
              <a:rPr lang="ru-RU" sz="2400" dirty="0"/>
              <a:t>методов машинного обучения позволяет решить эту критическую проблему, обнаруживая </a:t>
            </a:r>
            <a:r>
              <a:rPr lang="ru-RU" sz="2400" b="1" dirty="0"/>
              <a:t>ранее неизвестные вредоносные программы (zero-day атаки)</a:t>
            </a:r>
            <a:r>
              <a:rPr lang="ru-RU" sz="2400" dirty="0"/>
              <a:t> по схожести их поведения, а не по заранее известным </a:t>
            </a:r>
            <a:r>
              <a:rPr lang="ru-RU" sz="2400" dirty="0" smtClean="0"/>
              <a:t>сигнатурам</a:t>
            </a:r>
            <a:endParaRPr lang="ru-RU" sz="24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91115" y="365760"/>
            <a:ext cx="74991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dirty="0" smtClean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  <a:t>3</a:t>
            </a:r>
            <a:endParaRPr lang="ru-RU" sz="5400" b="0" cap="none" spc="0" dirty="0">
              <a:ln w="0"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1261872" y="1282887"/>
            <a:ext cx="842756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0257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61872" y="431532"/>
            <a:ext cx="9692640" cy="791785"/>
          </a:xfrm>
        </p:spPr>
        <p:txBody>
          <a:bodyPr/>
          <a:lstStyle/>
          <a:p>
            <a:r>
              <a:rPr lang="ru-RU" dirty="0" smtClean="0"/>
              <a:t>Цель курсовой работы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Изучить и проанализировать методы применения машинного обучения для автоматической классификации вредоносного программного обеспечения, исследовать современные подходы к извлечению признаков из исполняемых файлов и разработать концептуальную модель системы детектирования угроз на основе нейронных </a:t>
            </a:r>
            <a:r>
              <a:rPr lang="ru-RU" sz="2400" dirty="0" smtClean="0"/>
              <a:t>сетей</a:t>
            </a:r>
            <a:endParaRPr lang="ru-RU" sz="24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91115" y="365760"/>
            <a:ext cx="74991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  <a:t>4</a:t>
            </a:r>
            <a:endParaRPr lang="ru-RU" sz="5400" b="0" cap="none" spc="0" dirty="0">
              <a:ln w="0"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</a:endParaRPr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1261872" y="1282887"/>
            <a:ext cx="842756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6291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61872" y="431532"/>
            <a:ext cx="9692640" cy="791785"/>
          </a:xfrm>
        </p:spPr>
        <p:txBody>
          <a:bodyPr/>
          <a:lstStyle/>
          <a:p>
            <a:r>
              <a:rPr lang="ru-RU" dirty="0" smtClean="0"/>
              <a:t>Цель курсовой работы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 smtClean="0"/>
              <a:t>В </a:t>
            </a:r>
            <a:r>
              <a:rPr lang="ru-RU" sz="2400" dirty="0"/>
              <a:t>рамках этой работы предполагается отойти от традиционного сигнатурного анализа и сосредоточиться на задаче </a:t>
            </a:r>
            <a:r>
              <a:rPr lang="ru-RU" sz="2400" b="1" dirty="0"/>
              <a:t>классификации угроз</a:t>
            </a:r>
            <a:r>
              <a:rPr lang="ru-RU" sz="2400" dirty="0"/>
              <a:t> (таких как ransomware, trojan, backdoor, miner) на основе признаков, извлеченных из динамического и статического анализа вредоносного </a:t>
            </a:r>
            <a:r>
              <a:rPr lang="ru-RU" sz="2400" dirty="0" smtClean="0"/>
              <a:t>кода</a:t>
            </a:r>
            <a:endParaRPr lang="ru-RU" sz="24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91115" y="365760"/>
            <a:ext cx="74991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  <a:t>5</a:t>
            </a:r>
            <a:endParaRPr lang="ru-RU" sz="5400" b="0" cap="none" spc="0" dirty="0">
              <a:ln w="0"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1261872" y="1282887"/>
            <a:ext cx="842756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6894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61872" y="431532"/>
            <a:ext cx="9692640" cy="791785"/>
          </a:xfrm>
        </p:spPr>
        <p:txBody>
          <a:bodyPr/>
          <a:lstStyle/>
          <a:p>
            <a:r>
              <a:rPr lang="ru-RU" dirty="0" smtClean="0"/>
              <a:t>Цель курсовой работы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 smtClean="0"/>
              <a:t>Машинное </a:t>
            </a:r>
            <a:r>
              <a:rPr lang="ru-RU" sz="2400" dirty="0"/>
              <a:t>обучение позволит модели обучаться на таких характеристиках, как последовательности API-вызовов, изменения в реестре и файловой системе, сетевая активность, энтропия секций кода и другие метаданные из заголовков </a:t>
            </a:r>
            <a:r>
              <a:rPr lang="ru-RU" sz="2400" dirty="0" err="1" smtClean="0"/>
              <a:t>PE</a:t>
            </a:r>
            <a:r>
              <a:rPr lang="ru-RU" sz="2400" dirty="0" smtClean="0"/>
              <a:t>-файлов</a:t>
            </a:r>
            <a:endParaRPr lang="ru-RU" sz="24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91115" y="365760"/>
            <a:ext cx="74991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  <a:t>6</a:t>
            </a:r>
            <a:endParaRPr lang="ru-RU" sz="5400" b="0" cap="none" spc="0" dirty="0">
              <a:ln w="0"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1261872" y="1282887"/>
            <a:ext cx="842756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84502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61872" y="431532"/>
            <a:ext cx="9692640" cy="791785"/>
          </a:xfrm>
        </p:spPr>
        <p:txBody>
          <a:bodyPr/>
          <a:lstStyle/>
          <a:p>
            <a:r>
              <a:rPr lang="ru-RU" dirty="0" smtClean="0"/>
              <a:t>Цель и задачи на 1-ый семестр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b="1" dirty="0"/>
              <a:t>Цель на первый семестр:</a:t>
            </a:r>
          </a:p>
          <a:p>
            <a:r>
              <a:rPr lang="ru-RU" sz="2400" dirty="0"/>
              <a:t>Освоить теоретические основы машинного обучения и нейронных сетей, изучить существующие подходы к классификации вредоносного программного обеспечения и проанализировать научные исследования в этой </a:t>
            </a:r>
            <a:r>
              <a:rPr lang="ru-RU" sz="2400" dirty="0" smtClean="0"/>
              <a:t>области</a:t>
            </a:r>
            <a:endParaRPr lang="ru-RU" sz="24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91115" y="365760"/>
            <a:ext cx="74991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  <a:t>7</a:t>
            </a:r>
            <a:endParaRPr lang="ru-RU" sz="5400" b="0" cap="none" spc="0" dirty="0">
              <a:ln w="0"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1261872" y="1282887"/>
            <a:ext cx="842756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07335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61872" y="431532"/>
            <a:ext cx="9692640" cy="791785"/>
          </a:xfrm>
        </p:spPr>
        <p:txBody>
          <a:bodyPr/>
          <a:lstStyle/>
          <a:p>
            <a:r>
              <a:rPr lang="ru-RU" dirty="0" smtClean="0"/>
              <a:t>Цель и задачи на 1-ый семестр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b="1" dirty="0" smtClean="0"/>
              <a:t>Задачи</a:t>
            </a:r>
            <a:r>
              <a:rPr lang="ru-RU" sz="2400" b="1" dirty="0"/>
              <a:t>:</a:t>
            </a:r>
          </a:p>
          <a:p>
            <a:r>
              <a:rPr lang="ru-RU" sz="2400" dirty="0" smtClean="0"/>
              <a:t>Изучить </a:t>
            </a:r>
            <a:r>
              <a:rPr lang="ru-RU" sz="2400" dirty="0"/>
              <a:t>основные типы вредоносного ПО и современные методы их классификации (сигнатурный, эвристический, поведенческий анализ)</a:t>
            </a:r>
          </a:p>
          <a:p>
            <a:r>
              <a:rPr lang="ru-RU" sz="2400" dirty="0" smtClean="0"/>
              <a:t>Освоить </a:t>
            </a:r>
            <a:r>
              <a:rPr lang="ru-RU" sz="2400" dirty="0"/>
              <a:t>теоретические основы нейронных сетей </a:t>
            </a:r>
            <a:endParaRPr lang="ru-RU" sz="2400" dirty="0" smtClean="0"/>
          </a:p>
          <a:p>
            <a:r>
              <a:rPr lang="ru-RU" sz="2400" dirty="0" smtClean="0"/>
              <a:t>Изучить </a:t>
            </a:r>
            <a:r>
              <a:rPr lang="ru-RU" sz="2400" dirty="0"/>
              <a:t>методы извлечения признаков из исполняемых PE-файлов для последующего анализа нейронными </a:t>
            </a:r>
            <a:r>
              <a:rPr lang="ru-RU" sz="2400" dirty="0" smtClean="0"/>
              <a:t>сетями</a:t>
            </a:r>
            <a:endParaRPr lang="ru-RU" sz="24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91115" y="365760"/>
            <a:ext cx="74991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  <a:t>8</a:t>
            </a:r>
            <a:endParaRPr lang="ru-RU" sz="5400" b="0" cap="none" spc="0" dirty="0">
              <a:ln w="0"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1261872" y="1282887"/>
            <a:ext cx="842756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96449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61872" y="431532"/>
            <a:ext cx="10023543" cy="791785"/>
          </a:xfrm>
        </p:spPr>
        <p:txBody>
          <a:bodyPr>
            <a:normAutofit/>
          </a:bodyPr>
          <a:lstStyle/>
          <a:p>
            <a:r>
              <a:rPr lang="ru-RU" dirty="0" smtClean="0"/>
              <a:t>Обзор метода классификации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 smtClean="0"/>
              <a:t>Байтовая гистограмма</a:t>
            </a:r>
          </a:p>
          <a:p>
            <a:r>
              <a:rPr lang="ru-RU" sz="2400" dirty="0" smtClean="0"/>
              <a:t>Энтропия файлов</a:t>
            </a:r>
          </a:p>
          <a:p>
            <a:r>
              <a:rPr lang="ru-RU" sz="2400" dirty="0" smtClean="0"/>
              <a:t>Информация об импортах</a:t>
            </a:r>
          </a:p>
          <a:p>
            <a:r>
              <a:rPr lang="ru-RU" sz="2400" dirty="0" smtClean="0"/>
              <a:t>Данные из заголовков </a:t>
            </a:r>
          </a:p>
          <a:p>
            <a:pPr marL="0" indent="0">
              <a:buNone/>
            </a:pPr>
            <a:r>
              <a:rPr lang="ru-RU" sz="2400" dirty="0" smtClean="0"/>
              <a:t>секций файла</a:t>
            </a:r>
            <a:endParaRPr lang="ru-RU" sz="24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91115" y="365760"/>
            <a:ext cx="74991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  <a:t>9</a:t>
            </a:r>
            <a:endParaRPr lang="ru-RU" sz="5400" b="0" cap="none" spc="0" dirty="0">
              <a:ln w="0"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1261872" y="1282887"/>
            <a:ext cx="842756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3695" y="1594339"/>
            <a:ext cx="4151093" cy="37846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22185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61872" y="431532"/>
            <a:ext cx="9692640" cy="791785"/>
          </a:xfrm>
        </p:spPr>
        <p:txBody>
          <a:bodyPr/>
          <a:lstStyle/>
          <a:p>
            <a:r>
              <a:rPr lang="ru-RU" dirty="0" smtClean="0"/>
              <a:t>Архитектура </a:t>
            </a:r>
            <a:r>
              <a:rPr lang="ru-RU" dirty="0" err="1" smtClean="0"/>
              <a:t>нейросети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sz="2400" dirty="0" smtClean="0"/>
              <a:t>Четырёхуровневый персептрон</a:t>
            </a:r>
          </a:p>
          <a:p>
            <a:r>
              <a:rPr lang="ru-RU" sz="2400" dirty="0"/>
              <a:t>Параметры:</a:t>
            </a:r>
          </a:p>
          <a:p>
            <a:r>
              <a:rPr lang="ru-RU" sz="2400" dirty="0" smtClean="0"/>
              <a:t>Входной </a:t>
            </a:r>
            <a:r>
              <a:rPr lang="ru-RU" sz="2400" dirty="0"/>
              <a:t>слой: 678 нейронов (входные признаки)</a:t>
            </a:r>
          </a:p>
          <a:p>
            <a:r>
              <a:rPr lang="ru-RU" sz="2400" dirty="0" smtClean="0"/>
              <a:t>1-й </a:t>
            </a:r>
            <a:r>
              <a:rPr lang="ru-RU" sz="2400" dirty="0"/>
              <a:t>скрытый слой: 200 нейронов + </a:t>
            </a:r>
            <a:r>
              <a:rPr lang="en-GB" sz="2400" dirty="0" err="1"/>
              <a:t>PReLU</a:t>
            </a:r>
            <a:r>
              <a:rPr lang="en-GB" sz="2400" dirty="0"/>
              <a:t> </a:t>
            </a:r>
            <a:r>
              <a:rPr lang="ru-RU" sz="2400" dirty="0"/>
              <a:t>активация + </a:t>
            </a:r>
            <a:r>
              <a:rPr lang="en-GB" sz="2400" dirty="0"/>
              <a:t>Dropout 30%</a:t>
            </a:r>
          </a:p>
          <a:p>
            <a:r>
              <a:rPr lang="en-GB" sz="2400" dirty="0" smtClean="0"/>
              <a:t>2-</a:t>
            </a:r>
            <a:r>
              <a:rPr lang="ru-RU" sz="2400" dirty="0"/>
              <a:t>й скрытый слой: 150 нейронов + </a:t>
            </a:r>
            <a:r>
              <a:rPr lang="en-GB" sz="2400" dirty="0" err="1"/>
              <a:t>PReLU</a:t>
            </a:r>
            <a:r>
              <a:rPr lang="en-GB" sz="2400" dirty="0"/>
              <a:t> </a:t>
            </a:r>
            <a:r>
              <a:rPr lang="ru-RU" sz="2400" dirty="0"/>
              <a:t>активация + </a:t>
            </a:r>
            <a:r>
              <a:rPr lang="en-GB" sz="2400" dirty="0"/>
              <a:t>Dropout 30%</a:t>
            </a:r>
          </a:p>
          <a:p>
            <a:r>
              <a:rPr lang="ru-RU" sz="2400" dirty="0" smtClean="0"/>
              <a:t>Выходной </a:t>
            </a:r>
            <a:r>
              <a:rPr lang="ru-RU" sz="2400" dirty="0"/>
              <a:t>слой: 1 нейрон + </a:t>
            </a:r>
            <a:r>
              <a:rPr lang="en-GB" sz="2400" dirty="0"/>
              <a:t>Sigmoid </a:t>
            </a:r>
            <a:r>
              <a:rPr lang="ru-RU" sz="2400" dirty="0" smtClean="0"/>
              <a:t>активация (вероятность </a:t>
            </a:r>
            <a:r>
              <a:rPr lang="ru-RU" sz="2400" dirty="0"/>
              <a:t>того, что это </a:t>
            </a:r>
            <a:r>
              <a:rPr lang="ru-RU" sz="2400" dirty="0" err="1"/>
              <a:t>вредонос</a:t>
            </a:r>
            <a:r>
              <a:rPr lang="ru-RU" sz="2400" dirty="0"/>
              <a:t>)</a:t>
            </a:r>
          </a:p>
          <a:p>
            <a:r>
              <a:rPr lang="ru-RU" sz="2400" dirty="0" smtClean="0"/>
              <a:t>Обучение</a:t>
            </a:r>
            <a:r>
              <a:rPr lang="ru-RU" sz="2400" dirty="0"/>
              <a:t>: </a:t>
            </a:r>
            <a:r>
              <a:rPr lang="en-GB" sz="2400" dirty="0"/>
              <a:t>EMBER </a:t>
            </a:r>
            <a:r>
              <a:rPr lang="ru-RU" sz="2400" dirty="0" err="1"/>
              <a:t>датасет</a:t>
            </a:r>
            <a:r>
              <a:rPr lang="ru-RU" sz="2400" dirty="0"/>
              <a:t> (528 000 файлов)</a:t>
            </a:r>
          </a:p>
          <a:p>
            <a:r>
              <a:rPr lang="ru-RU" sz="2400" dirty="0"/>
              <a:t>Библиотека: </a:t>
            </a:r>
            <a:r>
              <a:rPr lang="en-GB" sz="2400" dirty="0" err="1"/>
              <a:t>Keras</a:t>
            </a:r>
            <a:r>
              <a:rPr lang="en-GB" sz="2400" dirty="0"/>
              <a:t> + </a:t>
            </a:r>
            <a:r>
              <a:rPr lang="en-GB" sz="2400" dirty="0" err="1"/>
              <a:t>TensorFlow</a:t>
            </a:r>
            <a:endParaRPr lang="en-GB" sz="2400" dirty="0"/>
          </a:p>
          <a:p>
            <a:endParaRPr lang="ru-RU" sz="24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17231" y="365760"/>
            <a:ext cx="945661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dirty="0" smtClean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  <a:t>10</a:t>
            </a:r>
            <a:endParaRPr lang="ru-RU" sz="5400" b="0" cap="none" spc="0" dirty="0">
              <a:ln w="0"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1261872" y="1282887"/>
            <a:ext cx="842756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2375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61872" y="431532"/>
            <a:ext cx="9692640" cy="791785"/>
          </a:xfrm>
        </p:spPr>
        <p:txBody>
          <a:bodyPr/>
          <a:lstStyle/>
          <a:p>
            <a:r>
              <a:rPr lang="ru-RU" dirty="0" smtClean="0"/>
              <a:t>Обучение и почему работает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475652" y="1539631"/>
            <a:ext cx="5482805" cy="3173045"/>
          </a:xfrm>
        </p:spPr>
        <p:txBody>
          <a:bodyPr>
            <a:noAutofit/>
          </a:bodyPr>
          <a:lstStyle/>
          <a:p>
            <a:r>
              <a:rPr lang="ru-RU" sz="1400" dirty="0" smtClean="0"/>
              <a:t>Статические </a:t>
            </a:r>
            <a:r>
              <a:rPr lang="ru-RU" sz="1400" dirty="0"/>
              <a:t>признаки достаточны</a:t>
            </a:r>
          </a:p>
          <a:p>
            <a:r>
              <a:rPr lang="ru-RU" sz="1400" dirty="0" smtClean="0"/>
              <a:t>Структура </a:t>
            </a:r>
            <a:r>
              <a:rPr lang="ru-RU" sz="1400" dirty="0" err="1"/>
              <a:t>PE</a:t>
            </a:r>
            <a:r>
              <a:rPr lang="ru-RU" sz="1400" dirty="0"/>
              <a:t>-файла многое говорит о его назначении</a:t>
            </a:r>
          </a:p>
          <a:p>
            <a:r>
              <a:rPr lang="ru-RU" sz="1400" dirty="0" err="1" smtClean="0"/>
              <a:t>Нейросеть</a:t>
            </a:r>
            <a:r>
              <a:rPr lang="ru-RU" sz="1400" dirty="0" smtClean="0"/>
              <a:t> </a:t>
            </a:r>
            <a:r>
              <a:rPr lang="ru-RU" sz="1400" dirty="0"/>
              <a:t>обобщает закономерности</a:t>
            </a:r>
          </a:p>
          <a:p>
            <a:r>
              <a:rPr lang="ru-RU" sz="1400" dirty="0" smtClean="0"/>
              <a:t>Не </a:t>
            </a:r>
            <a:r>
              <a:rPr lang="ru-RU" sz="1400" dirty="0"/>
              <a:t>ищет точное совпадение, а видит паттерны</a:t>
            </a:r>
          </a:p>
          <a:p>
            <a:r>
              <a:rPr lang="ru-RU" sz="1400" dirty="0" smtClean="0"/>
              <a:t>Не </a:t>
            </a:r>
            <a:r>
              <a:rPr lang="ru-RU" sz="1400" dirty="0"/>
              <a:t>требует постоянных обновлений сигнатур</a:t>
            </a:r>
          </a:p>
          <a:p>
            <a:r>
              <a:rPr lang="ru-RU" sz="1400" dirty="0" smtClean="0"/>
              <a:t>Может </a:t>
            </a:r>
            <a:r>
              <a:rPr lang="ru-RU" sz="1400" dirty="0"/>
              <a:t>обнаруживать новые варианты знакомых </a:t>
            </a:r>
            <a:r>
              <a:rPr lang="ru-RU" sz="1400" dirty="0" smtClean="0"/>
              <a:t>вирусов</a:t>
            </a:r>
          </a:p>
          <a:p>
            <a:r>
              <a:rPr lang="ru-RU" sz="1400" dirty="0" smtClean="0"/>
              <a:t>Быстро </a:t>
            </a:r>
            <a:r>
              <a:rPr lang="ru-RU" sz="1400" dirty="0"/>
              <a:t>работает</a:t>
            </a:r>
          </a:p>
          <a:p>
            <a:r>
              <a:rPr lang="ru-RU" sz="1400" dirty="0" smtClean="0"/>
              <a:t>Анализ </a:t>
            </a:r>
            <a:r>
              <a:rPr lang="ru-RU" sz="1400" dirty="0"/>
              <a:t>одного </a:t>
            </a:r>
            <a:r>
              <a:rPr lang="ru-RU" sz="1400" dirty="0" smtClean="0"/>
              <a:t>файла - миллисекунды</a:t>
            </a:r>
            <a:endParaRPr lang="ru-RU" sz="14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25046" y="365760"/>
            <a:ext cx="945662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dirty="0" smtClean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  <a:t>11</a:t>
            </a:r>
            <a:endParaRPr lang="ru-RU" sz="5400" b="0" cap="none" spc="0" dirty="0">
              <a:ln w="0"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1261872" y="1282887"/>
            <a:ext cx="842756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Рисунок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1872" y="1516184"/>
            <a:ext cx="3396097" cy="460716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952315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61872" y="431532"/>
            <a:ext cx="9692640" cy="791785"/>
          </a:xfrm>
        </p:spPr>
        <p:txBody>
          <a:bodyPr/>
          <a:lstStyle/>
          <a:p>
            <a:r>
              <a:rPr lang="ru-RU" dirty="0" smtClean="0"/>
              <a:t>Результаты по методу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5046" y="5369169"/>
            <a:ext cx="5779790" cy="750277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Вывод: Нет переобучения </a:t>
            </a:r>
            <a:r>
              <a:rPr lang="ru-RU" dirty="0" smtClean="0"/>
              <a:t>– </a:t>
            </a:r>
            <a:r>
              <a:rPr lang="ru-RU" dirty="0" err="1" smtClean="0"/>
              <a:t>валидационная</a:t>
            </a:r>
            <a:r>
              <a:rPr lang="ru-RU" dirty="0" smtClean="0"/>
              <a:t> и тестовая точности примерно одинаковые, разница между точностями практически сводится к нулю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25046" y="365760"/>
            <a:ext cx="945662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dirty="0" smtClean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  <a:t>12</a:t>
            </a:r>
            <a:endParaRPr lang="ru-RU" sz="5400" b="0" cap="none" spc="0" dirty="0">
              <a:ln w="0"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1261872" y="1282887"/>
            <a:ext cx="842756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836" y="1673652"/>
            <a:ext cx="5125102" cy="351069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33" y="3721281"/>
            <a:ext cx="2858957" cy="1811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548359"/>
            <a:ext cx="2451116" cy="2172922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7116" y="1548359"/>
            <a:ext cx="2541474" cy="21729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9" y="3721281"/>
            <a:ext cx="2133633" cy="1811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4293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61872" y="431532"/>
            <a:ext cx="9692640" cy="791785"/>
          </a:xfrm>
        </p:spPr>
        <p:txBody>
          <a:bodyPr/>
          <a:lstStyle/>
          <a:p>
            <a:r>
              <a:rPr lang="ru-RU" dirty="0" smtClean="0"/>
              <a:t>Существующие решения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68892" y="5619103"/>
            <a:ext cx="10454216" cy="787399"/>
          </a:xfrm>
        </p:spPr>
        <p:txBody>
          <a:bodyPr>
            <a:normAutofit/>
          </a:bodyPr>
          <a:lstStyle/>
          <a:p>
            <a:r>
              <a:rPr lang="ru-RU" sz="1600" dirty="0" smtClean="0"/>
              <a:t>Я выбрал </a:t>
            </a:r>
            <a:r>
              <a:rPr lang="ru-RU" sz="1600" dirty="0" err="1"/>
              <a:t>нейросеть</a:t>
            </a:r>
            <a:r>
              <a:rPr lang="ru-RU" sz="1600" dirty="0"/>
              <a:t> именно потому, что она дала лучший результат и потому что </a:t>
            </a:r>
            <a:r>
              <a:rPr lang="ru-RU" sz="1600" dirty="0" err="1" smtClean="0"/>
              <a:t>нейросети</a:t>
            </a:r>
            <a:r>
              <a:rPr lang="ru-RU" sz="1600" dirty="0" smtClean="0"/>
              <a:t> </a:t>
            </a:r>
            <a:r>
              <a:rPr lang="ru-RU" sz="1600" dirty="0" err="1"/>
              <a:t>универсальнее</a:t>
            </a:r>
            <a:r>
              <a:rPr lang="ru-RU" sz="1600" dirty="0"/>
              <a:t> </a:t>
            </a:r>
            <a:r>
              <a:rPr lang="ru-RU" sz="1600" dirty="0" smtClean="0"/>
              <a:t>- </a:t>
            </a:r>
            <a:r>
              <a:rPr lang="ru-RU" sz="1600" dirty="0"/>
              <a:t>их можно адаптировать и на другие типы </a:t>
            </a:r>
            <a:r>
              <a:rPr lang="ru-RU" sz="1600" dirty="0" smtClean="0"/>
              <a:t>файлов</a:t>
            </a:r>
            <a:endParaRPr lang="ru-RU" sz="16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25046" y="365760"/>
            <a:ext cx="945662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dirty="0" smtClean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  <a:t>13</a:t>
            </a:r>
            <a:endParaRPr lang="ru-RU" sz="5400" b="0" cap="none" spc="0" dirty="0">
              <a:ln w="0"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1261872" y="1282887"/>
            <a:ext cx="842756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708" y="1465256"/>
            <a:ext cx="4110066" cy="301964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Объект 2"/>
          <p:cNvSpPr txBox="1">
            <a:spLocks/>
          </p:cNvSpPr>
          <p:nvPr/>
        </p:nvSpPr>
        <p:spPr>
          <a:xfrm>
            <a:off x="6234206" y="4570044"/>
            <a:ext cx="3455226" cy="3055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 err="1" smtClean="0"/>
              <a:t>Random</a:t>
            </a:r>
            <a:r>
              <a:rPr lang="ru-RU" sz="1600" dirty="0" smtClean="0"/>
              <a:t> </a:t>
            </a:r>
            <a:r>
              <a:rPr lang="ru-RU" sz="1600" dirty="0" err="1" smtClean="0"/>
              <a:t>Forest</a:t>
            </a:r>
            <a:r>
              <a:rPr lang="ru-RU" sz="1600" dirty="0" smtClean="0"/>
              <a:t> — более простой метод, но точность ниже (90%)</a:t>
            </a:r>
          </a:p>
        </p:txBody>
      </p:sp>
      <p:sp>
        <p:nvSpPr>
          <p:cNvPr id="8" name="Объект 2"/>
          <p:cNvSpPr txBox="1">
            <a:spLocks/>
          </p:cNvSpPr>
          <p:nvPr/>
        </p:nvSpPr>
        <p:spPr>
          <a:xfrm>
            <a:off x="933627" y="4570045"/>
            <a:ext cx="4646558" cy="3055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 err="1" smtClean="0"/>
              <a:t>XGBoost</a:t>
            </a:r>
            <a:r>
              <a:rPr lang="ru-RU" sz="1600" dirty="0" smtClean="0"/>
              <a:t> — это ансамбль решающих деревьев. Работает быстрее, результат почти такой же (95% против 97%), но проще для интерпретации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4206" y="1465256"/>
            <a:ext cx="4028152" cy="301964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82678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61872" y="431532"/>
            <a:ext cx="9692640" cy="791785"/>
          </a:xfrm>
        </p:spPr>
        <p:txBody>
          <a:bodyPr/>
          <a:lstStyle/>
          <a:p>
            <a:r>
              <a:rPr lang="ru-RU" dirty="0" smtClean="0"/>
              <a:t>Интеграция со старыми методами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61872" y="1828800"/>
            <a:ext cx="4599666" cy="500185"/>
          </a:xfrm>
        </p:spPr>
        <p:txBody>
          <a:bodyPr>
            <a:normAutofit/>
          </a:bodyPr>
          <a:lstStyle/>
          <a:p>
            <a:r>
              <a:rPr lang="ru-RU" dirty="0"/>
              <a:t>Применение в антивирусной </a:t>
            </a:r>
            <a:r>
              <a:rPr lang="ru-RU" dirty="0" smtClean="0"/>
              <a:t>системе: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25046" y="365760"/>
            <a:ext cx="945662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dirty="0" smtClean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  <a:t>14</a:t>
            </a:r>
            <a:endParaRPr lang="ru-RU" sz="5400" b="0" cap="none" spc="0" dirty="0">
              <a:ln w="0"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1261872" y="1282887"/>
            <a:ext cx="842756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бъект 2"/>
          <p:cNvSpPr txBox="1">
            <a:spLocks/>
          </p:cNvSpPr>
          <p:nvPr/>
        </p:nvSpPr>
        <p:spPr>
          <a:xfrm>
            <a:off x="6255903" y="1820981"/>
            <a:ext cx="4599666" cy="23367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Где используется:</a:t>
            </a:r>
          </a:p>
          <a:p>
            <a:r>
              <a:rPr lang="ru-RU" dirty="0" smtClean="0"/>
              <a:t>Дополнительный </a:t>
            </a:r>
            <a:r>
              <a:rPr lang="ru-RU" dirty="0"/>
              <a:t>слой в антивирусе</a:t>
            </a:r>
          </a:p>
          <a:p>
            <a:r>
              <a:rPr lang="ru-RU" dirty="0" smtClean="0"/>
              <a:t>Первая </a:t>
            </a:r>
            <a:r>
              <a:rPr lang="ru-RU" dirty="0"/>
              <a:t>линия защиты (быстрая проверка</a:t>
            </a:r>
            <a:r>
              <a:rPr lang="ru-RU" dirty="0" smtClean="0"/>
              <a:t>) – 1 миллисекунда</a:t>
            </a:r>
            <a:endParaRPr lang="ru-RU" dirty="0"/>
          </a:p>
          <a:p>
            <a:r>
              <a:rPr lang="ru-RU" dirty="0" smtClean="0"/>
              <a:t>Вторая линия защиты (глубокая проверка) – от 30 секунд до 5 минут</a:t>
            </a:r>
          </a:p>
          <a:p>
            <a:r>
              <a:rPr lang="ru-RU" dirty="0" smtClean="0"/>
              <a:t>Совместно </a:t>
            </a:r>
            <a:r>
              <a:rPr lang="ru-RU" dirty="0"/>
              <a:t>с сигнатурным и поведенческим </a:t>
            </a:r>
            <a:r>
              <a:rPr lang="ru-RU" dirty="0" smtClean="0"/>
              <a:t>анализом </a:t>
            </a:r>
          </a:p>
          <a:p>
            <a:r>
              <a:rPr lang="ru-RU" dirty="0" smtClean="0"/>
              <a:t>Способен быстро находить </a:t>
            </a:r>
            <a:r>
              <a:rPr lang="ru-RU" dirty="0" err="1" smtClean="0"/>
              <a:t>метаморфный</a:t>
            </a:r>
            <a:r>
              <a:rPr lang="ru-RU" dirty="0" smtClean="0"/>
              <a:t> код, </a:t>
            </a:r>
            <a:r>
              <a:rPr lang="en-US" dirty="0" smtClean="0"/>
              <a:t>zero-day, </a:t>
            </a:r>
            <a:r>
              <a:rPr lang="ru-RU" dirty="0" err="1" smtClean="0"/>
              <a:t>обфускацию</a:t>
            </a:r>
            <a:endParaRPr lang="ru-R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401" b="28661"/>
          <a:stretch/>
        </p:blipFill>
        <p:spPr bwMode="auto">
          <a:xfrm>
            <a:off x="1261872" y="2491152"/>
            <a:ext cx="4572000" cy="287606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57772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61872" y="431532"/>
            <a:ext cx="9692640" cy="791785"/>
          </a:xfrm>
        </p:spPr>
        <p:txBody>
          <a:bodyPr/>
          <a:lstStyle/>
          <a:p>
            <a:r>
              <a:rPr lang="ru-RU" dirty="0" smtClean="0"/>
              <a:t>Вывод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000" dirty="0"/>
              <a:t>Доказана эффективность ML для обнаружения </a:t>
            </a:r>
            <a:r>
              <a:rPr lang="ru-RU" sz="2000" dirty="0" err="1"/>
              <a:t>вредоноса</a:t>
            </a:r>
            <a:r>
              <a:rPr lang="ru-RU" sz="2000" dirty="0"/>
              <a:t> </a:t>
            </a:r>
            <a:r>
              <a:rPr lang="ru-RU" sz="2000" dirty="0" smtClean="0"/>
              <a:t>на </a:t>
            </a:r>
            <a:r>
              <a:rPr lang="ru-RU" sz="2000" dirty="0" err="1"/>
              <a:t>датасете</a:t>
            </a:r>
            <a:r>
              <a:rPr lang="ru-RU" sz="2000" dirty="0"/>
              <a:t> EMBER: 97% точность, </a:t>
            </a:r>
            <a:r>
              <a:rPr lang="ru-RU" sz="2000" dirty="0" smtClean="0"/>
              <a:t>3% </a:t>
            </a:r>
            <a:r>
              <a:rPr lang="ru-RU" sz="2000" dirty="0"/>
              <a:t>ложных </a:t>
            </a:r>
            <a:r>
              <a:rPr lang="ru-RU" sz="2000" dirty="0" smtClean="0"/>
              <a:t>срабатываний</a:t>
            </a:r>
          </a:p>
          <a:p>
            <a:r>
              <a:rPr lang="ru-RU" sz="2000" dirty="0"/>
              <a:t>Статический анализ PE-файлов работает в реал-тайме Полумиллион признаков, 678 параметров, миллисекунды </a:t>
            </a:r>
            <a:r>
              <a:rPr lang="ru-RU" sz="2000" dirty="0" smtClean="0"/>
              <a:t>анализа</a:t>
            </a:r>
          </a:p>
          <a:p>
            <a:r>
              <a:rPr lang="ru-RU" sz="2000" dirty="0" err="1"/>
              <a:t>Нейросети</a:t>
            </a:r>
            <a:r>
              <a:rPr lang="ru-RU" sz="2000" dirty="0"/>
              <a:t> обгоняют традиционные методы NN 97% &gt; </a:t>
            </a:r>
            <a:r>
              <a:rPr lang="ru-RU" sz="2000" dirty="0" err="1"/>
              <a:t>XGBoost</a:t>
            </a:r>
            <a:r>
              <a:rPr lang="ru-RU" sz="2000" dirty="0"/>
              <a:t> 95% &gt; </a:t>
            </a:r>
            <a:r>
              <a:rPr lang="ru-RU" sz="2000" dirty="0" err="1"/>
              <a:t>Random</a:t>
            </a:r>
            <a:r>
              <a:rPr lang="ru-RU" sz="2000" dirty="0"/>
              <a:t> </a:t>
            </a:r>
            <a:r>
              <a:rPr lang="ru-RU" sz="2000" dirty="0" err="1"/>
              <a:t>Forest</a:t>
            </a:r>
            <a:r>
              <a:rPr lang="ru-RU" sz="2000" dirty="0"/>
              <a:t> 90</a:t>
            </a:r>
            <a:r>
              <a:rPr lang="ru-RU" sz="2000" dirty="0" smtClean="0"/>
              <a:t>%</a:t>
            </a:r>
          </a:p>
          <a:p>
            <a:r>
              <a:rPr lang="ru-RU" sz="2000" dirty="0"/>
              <a:t>Первые 50% курсовой — теория и выбор подхода </a:t>
            </a:r>
            <a:endParaRPr lang="ru-RU" sz="2000" dirty="0"/>
          </a:p>
          <a:p>
            <a:r>
              <a:rPr lang="ru-RU" sz="2000" dirty="0" smtClean="0"/>
              <a:t>Оставшиеся </a:t>
            </a:r>
            <a:r>
              <a:rPr lang="ru-RU" sz="2000" dirty="0"/>
              <a:t>50% — практическая реализация и </a:t>
            </a:r>
            <a:r>
              <a:rPr lang="ru-RU" sz="2000" dirty="0" smtClean="0"/>
              <a:t>экспериментирование</a:t>
            </a:r>
            <a:endParaRPr lang="ru-RU" sz="20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25046" y="365760"/>
            <a:ext cx="945662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dirty="0" smtClean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  <a:t>15</a:t>
            </a:r>
            <a:endParaRPr lang="ru-RU" sz="5400" b="0" cap="none" spc="0" dirty="0">
              <a:ln w="0"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1261872" y="1282887"/>
            <a:ext cx="842756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7027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61872" y="431532"/>
            <a:ext cx="9692640" cy="791785"/>
          </a:xfrm>
        </p:spPr>
        <p:txBody>
          <a:bodyPr/>
          <a:lstStyle/>
          <a:p>
            <a:r>
              <a:rPr lang="ru-RU" dirty="0" smtClean="0"/>
              <a:t>Литература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 err="1"/>
              <a:t>Выборнова</a:t>
            </a:r>
            <a:r>
              <a:rPr lang="ru-RU" sz="2400" dirty="0"/>
              <a:t> О.Н., </a:t>
            </a:r>
            <a:r>
              <a:rPr lang="ru-RU" sz="2400" dirty="0" err="1"/>
              <a:t>Пидченко</a:t>
            </a:r>
            <a:r>
              <a:rPr lang="ru-RU" sz="2400" dirty="0"/>
              <a:t> И.А. Система обнаружения вредоносного программного обеспечения на основе технологии машинного обучения. Моделирование, оптимизация и информационные технологии. 2020;8(3). https://moit.vivt.ru/wp-content/uploads/2020/08/VybornovaPidchenko_3_20_1.pdf</a:t>
            </a:r>
            <a:endParaRPr lang="ru-RU" sz="2400" dirty="0" smtClean="0"/>
          </a:p>
        </p:txBody>
      </p:sp>
      <p:sp>
        <p:nvSpPr>
          <p:cNvPr id="4" name="Прямоугольник 3"/>
          <p:cNvSpPr/>
          <p:nvPr/>
        </p:nvSpPr>
        <p:spPr>
          <a:xfrm>
            <a:off x="125046" y="365760"/>
            <a:ext cx="945662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dirty="0" smtClean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  <a:t>1</a:t>
            </a:r>
            <a:r>
              <a:rPr lang="en-US" sz="5400" dirty="0" smtClean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  <a:t>6</a:t>
            </a:r>
            <a:endParaRPr lang="ru-RU" sz="5400" b="0" cap="none" spc="0" dirty="0">
              <a:ln w="0"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1261872" y="1282887"/>
            <a:ext cx="842756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5508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Прямая соединительная линия 4"/>
          <p:cNvCxnSpPr/>
          <p:nvPr/>
        </p:nvCxnSpPr>
        <p:spPr>
          <a:xfrm>
            <a:off x="3031524" y="3800209"/>
            <a:ext cx="557728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941029" y="2474647"/>
            <a:ext cx="9692640" cy="1325562"/>
          </a:xfrm>
        </p:spPr>
        <p:txBody>
          <a:bodyPr/>
          <a:lstStyle/>
          <a:p>
            <a:pPr algn="ctr"/>
            <a:r>
              <a:rPr lang="ru-RU" dirty="0" smtClean="0"/>
              <a:t>Спасибо за внимание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5202711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B4B30"/>
      </a:accent2>
      <a:accent3>
        <a:srgbClr val="B5AE53"/>
      </a:accent3>
      <a:accent4>
        <a:srgbClr val="6F6A7A"/>
      </a:accent4>
      <a:accent5>
        <a:srgbClr val="E8B54D"/>
      </a:accent5>
      <a:accent6>
        <a:srgbClr val="8A7952"/>
      </a:accent6>
      <a:hlink>
        <a:srgbClr val="9F9F0B"/>
      </a:hlink>
      <a:folHlink>
        <a:srgbClr val="B2B2B2"/>
      </a:folHlink>
    </a:clrScheme>
    <a:fontScheme name="View">
      <a:majorFont>
        <a:latin typeface="Century Schoolbook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3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3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View" id="{BA0EB5A6-F2D4-4F82-977B-64ADEE4A2A69}" vid="{3866257B-E5CE-4C43-9210-F2DE76BE10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TM03457515[[fn=Вид]]</Template>
  <TotalTime>352</TotalTime>
  <Words>626</Words>
  <Application>Microsoft Office PowerPoint</Application>
  <PresentationFormat>Произвольный</PresentationFormat>
  <Paragraphs>87</Paragraphs>
  <Slides>18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19" baseType="lpstr">
      <vt:lpstr>View</vt:lpstr>
      <vt:lpstr>Классификация вредоносного ПО на основе методов машинного обучения</vt:lpstr>
      <vt:lpstr>Актуальность</vt:lpstr>
      <vt:lpstr>Актуальность</vt:lpstr>
      <vt:lpstr>Актуальность</vt:lpstr>
      <vt:lpstr>Цель курсовой работы</vt:lpstr>
      <vt:lpstr>Цель курсовой работы</vt:lpstr>
      <vt:lpstr>Цель курсовой работы</vt:lpstr>
      <vt:lpstr>Цель и задачи на 1-ый семестр</vt:lpstr>
      <vt:lpstr>Цель и задачи на 1-ый семестр</vt:lpstr>
      <vt:lpstr>Обзор метода классификации</vt:lpstr>
      <vt:lpstr>Архитектура нейросети</vt:lpstr>
      <vt:lpstr>Обучение и почему работает</vt:lpstr>
      <vt:lpstr>Результаты по методу</vt:lpstr>
      <vt:lpstr>Существующие решения</vt:lpstr>
      <vt:lpstr>Интеграция со старыми методами</vt:lpstr>
      <vt:lpstr>Вывод</vt:lpstr>
      <vt:lpstr>Литература</vt:lpstr>
      <vt:lpstr>Спасибо за внимание</vt:lpstr>
    </vt:vector>
  </TitlesOfParts>
  <Company>ТГУ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Классификация вредоносного ПО на основе методов машинного обучения</dc:title>
  <dc:creator>Сат Айрат Мергенович</dc:creator>
  <cp:lastModifiedBy>Пользователь</cp:lastModifiedBy>
  <cp:revision>23</cp:revision>
  <dcterms:created xsi:type="dcterms:W3CDTF">2025-10-04T19:13:03Z</dcterms:created>
  <dcterms:modified xsi:type="dcterms:W3CDTF">2025-12-22T00:39:35Z</dcterms:modified>
</cp:coreProperties>
</file>